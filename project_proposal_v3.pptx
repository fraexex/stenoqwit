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0" r:id="rId4"/>
    <p:sldId id="261" r:id="rId5"/>
    <p:sldId id="262" r:id="rId6"/>
    <p:sldId id="264" r:id="rId7"/>
  </p:sldIdLst>
  <p:sldSz cx="12188825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93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28B1C-7461-4283-A047-F665C861E4AF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1143000"/>
            <a:ext cx="4572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F5F5C-81E8-47F0-B85F-C6774086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56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F5F5C-81E8-47F0-B85F-C677408629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707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uqeko/circuits.gi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25400"/>
          </a:xfrm>
          <a:prstGeom prst="rect">
            <a:avLst/>
          </a:prstGeom>
          <a:solidFill>
            <a:srgbClr val="3D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3823A"/>
                </a:solidFill>
                <a:latin typeface="Open Sans"/>
              </a:defRPr>
            </a:pPr>
            <a:r>
              <a:rPr dirty="0"/>
              <a:t>01  </a:t>
            </a:r>
            <a:r>
              <a:rPr lang="en-US" dirty="0"/>
              <a:t>-</a:t>
            </a:r>
            <a:r>
              <a:rPr dirty="0"/>
              <a:t> 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47B39"/>
                </a:solidFill>
                <a:latin typeface="Oswald"/>
              </a:defRPr>
            </a:pPr>
            <a:r>
              <a:rPr dirty="0"/>
              <a:t>Goal: </a:t>
            </a:r>
            <a:r>
              <a:rPr lang="en-US" dirty="0" err="1"/>
              <a:t>Mouseless</a:t>
            </a:r>
            <a:r>
              <a:rPr dirty="0"/>
              <a:t> Visual Circuit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79" y="2000887"/>
            <a:ext cx="11258363" cy="58064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3823A"/>
                </a:solidFill>
                <a:latin typeface="Oswald"/>
              </a:defRPr>
            </a:pPr>
            <a:r>
              <a:rPr sz="1600" dirty="0"/>
              <a:t>The Problem It Solves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14016"/>
            <a:ext cx="10634346" cy="27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200">
                <a:solidFill>
                  <a:srgbClr val="333333"/>
                </a:solidFill>
                <a:latin typeface="Open Sans"/>
              </a:defRPr>
            </a:pPr>
            <a:r>
              <a:rPr dirty="0"/>
              <a:t>EDA tool</a:t>
            </a:r>
            <a:r>
              <a:rPr lang="en-US" dirty="0"/>
              <a:t>s</a:t>
            </a:r>
            <a:r>
              <a:rPr dirty="0"/>
              <a:t> </a:t>
            </a:r>
            <a:r>
              <a:rPr lang="en-US" dirty="0"/>
              <a:t>are</a:t>
            </a:r>
            <a:r>
              <a:rPr dirty="0"/>
              <a:t> </a:t>
            </a:r>
            <a:r>
              <a:rPr lang="en-US" dirty="0"/>
              <a:t>mouse reliant, and is tedious navigating through complicated UI menus;</a:t>
            </a:r>
            <a:r>
              <a:rPr dirty="0"/>
              <a:t> schematics </a:t>
            </a:r>
            <a:r>
              <a:rPr lang="en-US" dirty="0"/>
              <a:t>should be creatable at the designer’s own pace.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685800" y="2889503"/>
            <a:ext cx="63500" cy="752251"/>
          </a:xfrm>
          <a:prstGeom prst="rect">
            <a:avLst/>
          </a:prstGeom>
          <a:solidFill>
            <a:srgbClr val="C3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3232" y="2889503"/>
            <a:ext cx="10634346" cy="752251"/>
          </a:xfrm>
          <a:prstGeom prst="rect">
            <a:avLst/>
          </a:prstGeom>
          <a:solidFill>
            <a:srgbClr val="F9F9F9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021436"/>
            <a:ext cx="10442831" cy="49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7B39"/>
                </a:solidFill>
                <a:latin typeface="Open Sans"/>
              </a:defRPr>
            </a:pPr>
            <a:r>
              <a:rPr sz="1400" dirty="0"/>
              <a:t>GOAL</a:t>
            </a:r>
            <a:r>
              <a:rPr lang="en-US" sz="1400" dirty="0"/>
              <a:t>:</a:t>
            </a:r>
            <a:r>
              <a:rPr sz="1400" dirty="0"/>
              <a:t> Enable complete schematic capture using only a </a:t>
            </a:r>
            <a:r>
              <a:rPr lang="en-US" sz="1400" dirty="0" err="1"/>
              <a:t>Stenoqwit</a:t>
            </a:r>
            <a:endParaRPr sz="1400" dirty="0"/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Select</a:t>
            </a:r>
            <a:r>
              <a:rPr dirty="0"/>
              <a:t> → </a:t>
            </a:r>
            <a:r>
              <a:rPr lang="en-US" dirty="0"/>
              <a:t>A</a:t>
            </a:r>
            <a:r>
              <a:rPr dirty="0"/>
              <a:t>ction → Adjust → Commit</a:t>
            </a:r>
            <a:r>
              <a:rPr lang="en-US" dirty="0"/>
              <a:t>…</a:t>
            </a:r>
            <a:r>
              <a:rPr dirty="0"/>
              <a:t> all without a mouse or </a:t>
            </a:r>
            <a:r>
              <a:rPr lang="en-US" dirty="0"/>
              <a:t>user </a:t>
            </a:r>
            <a:r>
              <a:rPr dirty="0"/>
              <a:t>cod</a:t>
            </a:r>
            <a:r>
              <a:rPr lang="en-US" dirty="0"/>
              <a:t>ing</a:t>
            </a:r>
            <a:r>
              <a:rPr dirty="0"/>
              <a:t>. Place symbols, route wires, label nets, export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85800" y="3913392"/>
            <a:ext cx="339402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" y="3913392"/>
            <a:ext cx="3394022" cy="38100"/>
          </a:xfrm>
          <a:prstGeom prst="roundRect">
            <a:avLst/>
          </a:prstGeom>
          <a:solidFill>
            <a:srgbClr val="C3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4059696"/>
            <a:ext cx="3051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B39"/>
                </a:solidFill>
                <a:latin typeface="Oswald"/>
              </a:defRPr>
            </a:pPr>
            <a:r>
              <a:rPr lang="en-US" sz="1400" dirty="0"/>
              <a:t>Grid System</a:t>
            </a:r>
            <a:endParaRPr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804672" y="4406249"/>
            <a:ext cx="3051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rPr lang="en-US" dirty="0"/>
              <a:t>Grid system with key-accessible coordinates for each component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4272197" y="3913390"/>
            <a:ext cx="3327816" cy="1691642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4272197" y="3913391"/>
            <a:ext cx="3327816" cy="45719"/>
          </a:xfrm>
          <a:prstGeom prst="roundRect">
            <a:avLst/>
          </a:prstGeom>
          <a:solidFill>
            <a:srgbClr val="C3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45367" y="4059696"/>
            <a:ext cx="2992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B39"/>
                </a:solidFill>
                <a:latin typeface="Oswald"/>
              </a:defRPr>
            </a:pPr>
            <a:r>
              <a:rPr lang="en-US" sz="1400" dirty="0"/>
              <a:t>User Dictionary</a:t>
            </a:r>
            <a:endParaRPr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4445367" y="4406249"/>
            <a:ext cx="2992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  <a:latin typeface="Open Sans"/>
              </a:defRPr>
            </a:pPr>
            <a:r>
              <a:rPr lang="en-US" dirty="0"/>
              <a:t>Common components, wiring junctions, etc., can be defined in a dictionary and recalled easily through chording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3913391"/>
            <a:ext cx="352945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18120" y="3913391"/>
            <a:ext cx="3529458" cy="38100"/>
          </a:xfrm>
          <a:prstGeom prst="roundRect">
            <a:avLst/>
          </a:prstGeom>
          <a:solidFill>
            <a:srgbClr val="C3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64304" y="4059695"/>
            <a:ext cx="3173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B39"/>
                </a:solidFill>
                <a:latin typeface="Oswald"/>
              </a:defRPr>
            </a:pPr>
            <a:r>
              <a:rPr lang="en-US" sz="1400" dirty="0"/>
              <a:t>No Mouse</a:t>
            </a:r>
            <a:endParaRPr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8064304" y="4372623"/>
            <a:ext cx="31735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6666"/>
                </a:solidFill>
                <a:latin typeface="Open Sans"/>
              </a:defRPr>
            </a:pPr>
            <a:r>
              <a:rPr lang="en-US" dirty="0"/>
              <a:t>Every operation works through keypresses/chording only.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799" y="6016752"/>
            <a:ext cx="80947" cy="603504"/>
          </a:xfrm>
          <a:prstGeom prst="rect">
            <a:avLst/>
          </a:prstGeom>
          <a:solidFill>
            <a:srgbClr val="78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13231" y="6016751"/>
            <a:ext cx="10709273" cy="603505"/>
          </a:xfrm>
          <a:prstGeom prst="rect">
            <a:avLst/>
          </a:prstGeom>
          <a:solidFill>
            <a:srgbClr val="568078"/>
          </a:solidFill>
          <a:ln w="6350">
            <a:solidFill>
              <a:srgbClr val="3D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6600" y="6157211"/>
            <a:ext cx="104276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rPr sz="1600" dirty="0"/>
              <a:t>SUCCESS</a:t>
            </a:r>
            <a:r>
              <a:rPr lang="en-US" sz="1600" dirty="0"/>
              <a:t>:</a:t>
            </a:r>
            <a:r>
              <a:rPr sz="1600" dirty="0"/>
              <a:t> </a:t>
            </a:r>
            <a:r>
              <a:rPr lang="en-US" sz="1600" dirty="0"/>
              <a:t>U</a:t>
            </a:r>
            <a:r>
              <a:rPr sz="1600" dirty="0"/>
              <a:t>ser can launch → place symbols with chords → connect → label → export → open in </a:t>
            </a:r>
            <a:r>
              <a:rPr lang="en-US" sz="1600" dirty="0"/>
              <a:t>EDA</a:t>
            </a:r>
            <a:endParaRPr sz="1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33C564-7489-ADDD-D212-2CC7F6850675}"/>
              </a:ext>
            </a:extLst>
          </p:cNvPr>
          <p:cNvSpPr txBox="1"/>
          <p:nvPr/>
        </p:nvSpPr>
        <p:spPr>
          <a:xfrm>
            <a:off x="1874519" y="274320"/>
            <a:ext cx="6419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Oswald"/>
              </a:defRPr>
            </a:pPr>
            <a:r>
              <a:rPr sz="3200" dirty="0" err="1"/>
              <a:t>Sten</a:t>
            </a:r>
            <a:r>
              <a:rPr lang="en-US" sz="3200" dirty="0" err="1"/>
              <a:t>oqwit</a:t>
            </a:r>
            <a:r>
              <a:rPr lang="en-US" sz="3200" dirty="0"/>
              <a:t>:</a:t>
            </a:r>
            <a:r>
              <a:rPr sz="3200" dirty="0"/>
              <a:t> </a:t>
            </a:r>
            <a:r>
              <a:rPr lang="en-US" sz="3200" dirty="0" err="1"/>
              <a:t>Mouseless</a:t>
            </a:r>
            <a:r>
              <a:rPr lang="en-US" sz="3200" dirty="0"/>
              <a:t> </a:t>
            </a:r>
            <a:r>
              <a:rPr sz="3200" dirty="0"/>
              <a:t>Circuit</a:t>
            </a:r>
            <a:r>
              <a:rPr lang="en-US" sz="3200" dirty="0"/>
              <a:t> </a:t>
            </a:r>
            <a:r>
              <a:rPr sz="3200" dirty="0"/>
              <a:t>Editor</a:t>
            </a:r>
            <a:endParaRPr lang="en-US" sz="3200" dirty="0"/>
          </a:p>
          <a:p>
            <a:pPr algn="l">
              <a:defRPr sz="1200" b="0">
                <a:solidFill>
                  <a:srgbClr val="FFFFFF"/>
                </a:solidFill>
                <a:latin typeface="Oswald"/>
              </a:defRPr>
            </a:pPr>
            <a:r>
              <a:rPr lang="en-US" sz="1600" dirty="0"/>
              <a:t>Attribute to: Christian Galvez</a:t>
            </a:r>
            <a:endParaRPr sz="1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D8E32D-42E1-A1D0-EB7E-4A36E6F06B84}"/>
              </a:ext>
            </a:extLst>
          </p:cNvPr>
          <p:cNvSpPr txBox="1"/>
          <p:nvPr/>
        </p:nvSpPr>
        <p:spPr>
          <a:xfrm>
            <a:off x="411480" y="7882127"/>
            <a:ext cx="11384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  <a:latin typeface="Open Sans"/>
              </a:defRPr>
            </a:pPr>
            <a:r>
              <a:rPr dirty="0"/>
              <a:t>Theme: Plover Blog (Awesome Inc. by Tina Chen</a:t>
            </a:r>
            <a:r>
              <a:rPr lang="en-US" dirty="0"/>
              <a:t>)</a:t>
            </a:r>
            <a:endParaRPr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D4E1E1FC-2A22-27ED-3435-84FA1BC38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59" y="39019"/>
            <a:ext cx="1442445" cy="12121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25400"/>
          </a:xfrm>
          <a:prstGeom prst="rect">
            <a:avLst/>
          </a:prstGeom>
          <a:solidFill>
            <a:srgbClr val="3D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3823A"/>
                </a:solidFill>
                <a:latin typeface="Open Sans"/>
              </a:defRPr>
            </a:pPr>
            <a:r>
              <a:rPr dirty="0"/>
              <a:t>0</a:t>
            </a:r>
            <a:r>
              <a:rPr lang="en-US" dirty="0"/>
              <a:t>2</a:t>
            </a:r>
            <a:r>
              <a:rPr dirty="0"/>
              <a:t>  </a:t>
            </a:r>
            <a:r>
              <a:rPr lang="en-US" dirty="0"/>
              <a:t>-</a:t>
            </a:r>
            <a:r>
              <a:rPr dirty="0"/>
              <a:t> 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47B39"/>
                </a:solidFill>
                <a:latin typeface="Oswald"/>
              </a:defRPr>
            </a:pPr>
            <a:r>
              <a:rPr dirty="0"/>
              <a:t>Interaction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2694" y="2060250"/>
            <a:ext cx="3977639" cy="56601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Oval 11"/>
          <p:cNvSpPr/>
          <p:nvPr/>
        </p:nvSpPr>
        <p:spPr>
          <a:xfrm>
            <a:off x="1441294" y="2410078"/>
            <a:ext cx="355600" cy="355600"/>
          </a:xfrm>
          <a:prstGeom prst="ellipse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41294" y="2473578"/>
            <a:ext cx="35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0206" y="2410078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SELECT COORDINATE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514446" y="2794126"/>
            <a:ext cx="177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Open Sans"/>
              </a:defRPr>
            </a:pPr>
            <a:r>
              <a:t>▼</a:t>
            </a:r>
          </a:p>
        </p:txBody>
      </p:sp>
      <p:sp>
        <p:nvSpPr>
          <p:cNvPr id="17" name="Oval 16"/>
          <p:cNvSpPr/>
          <p:nvPr/>
        </p:nvSpPr>
        <p:spPr>
          <a:xfrm>
            <a:off x="1441294" y="3123310"/>
            <a:ext cx="355600" cy="355600"/>
          </a:xfrm>
          <a:prstGeom prst="ellipse">
            <a:avLst/>
          </a:prstGeom>
          <a:solidFill>
            <a:srgbClr val="C3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41294" y="3186810"/>
            <a:ext cx="35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206" y="3123310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CHOOSE </a:t>
            </a:r>
            <a:r>
              <a:rPr dirty="0"/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4446" y="3507358"/>
            <a:ext cx="177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Open Sans"/>
              </a:defRPr>
            </a:pPr>
            <a:r>
              <a:t>▼</a:t>
            </a:r>
          </a:p>
        </p:txBody>
      </p:sp>
      <p:sp>
        <p:nvSpPr>
          <p:cNvPr id="22" name="Oval 21"/>
          <p:cNvSpPr/>
          <p:nvPr/>
        </p:nvSpPr>
        <p:spPr>
          <a:xfrm>
            <a:off x="1441294" y="3836542"/>
            <a:ext cx="355600" cy="3556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41294" y="3900042"/>
            <a:ext cx="35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80206" y="3836542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rPr dirty="0"/>
              <a:t>ADJUST WITH KEYS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4446" y="4220590"/>
            <a:ext cx="177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Open Sans"/>
              </a:defRPr>
            </a:pPr>
            <a:r>
              <a:t>▼</a:t>
            </a:r>
          </a:p>
        </p:txBody>
      </p:sp>
      <p:sp>
        <p:nvSpPr>
          <p:cNvPr id="27" name="Oval 26"/>
          <p:cNvSpPr/>
          <p:nvPr/>
        </p:nvSpPr>
        <p:spPr>
          <a:xfrm>
            <a:off x="1441294" y="4549774"/>
            <a:ext cx="355600" cy="355600"/>
          </a:xfrm>
          <a:prstGeom prst="ellipse">
            <a:avLst/>
          </a:prstGeom>
          <a:solidFill>
            <a:srgbClr val="78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41294" y="4613274"/>
            <a:ext cx="35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206" y="4549774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t>COMMIT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41294" y="5405275"/>
            <a:ext cx="3547872" cy="1716222"/>
          </a:xfrm>
          <a:prstGeom prst="rect">
            <a:avLst/>
          </a:prstGeom>
          <a:solidFill>
            <a:srgbClr val="F9F9F9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51022" y="5465219"/>
            <a:ext cx="33284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77777"/>
                </a:solidFill>
                <a:latin typeface="Open Sans"/>
              </a:defRPr>
            </a:pPr>
            <a:r>
              <a:rPr lang="en-US" dirty="0"/>
              <a:t>KEY </a:t>
            </a:r>
            <a:r>
              <a:rPr dirty="0"/>
              <a:t>BINDING </a:t>
            </a:r>
            <a:r>
              <a:rPr lang="en-US" dirty="0"/>
              <a:t>EXAMPLES</a:t>
            </a:r>
            <a:r>
              <a:rPr dirty="0"/>
              <a:t> (configurable)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1022" y="5687540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W-R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2977486" y="5687540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t>wire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1022" y="5870420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SR-R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2977486" y="5870420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t>rotate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1022" y="6053300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F-P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2977486" y="6053300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t>flip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1022" y="6236180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#</a:t>
            </a: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2977486" y="6236180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t>cycle / select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1022" y="6419060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-T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2977486" y="6419060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rPr lang="en-US" dirty="0"/>
              <a:t>t</a:t>
            </a:r>
            <a:r>
              <a:rPr dirty="0"/>
              <a:t>ext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1551022" y="6601940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-U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2977486" y="6601940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t>undo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1022" y="6784820"/>
            <a:ext cx="1417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-S</a:t>
            </a:r>
            <a:endParaRPr dirty="0"/>
          </a:p>
        </p:txBody>
      </p:sp>
      <p:sp>
        <p:nvSpPr>
          <p:cNvPr id="46" name="TextBox 45"/>
          <p:cNvSpPr txBox="1"/>
          <p:nvPr/>
        </p:nvSpPr>
        <p:spPr>
          <a:xfrm>
            <a:off x="2977486" y="6784820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t>save / export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41426" y="2060250"/>
            <a:ext cx="3794760" cy="56601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24306" y="2279706"/>
            <a:ext cx="342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3823A"/>
                </a:solidFill>
                <a:latin typeface="Open Sans"/>
              </a:defRPr>
            </a:pPr>
            <a:r>
              <a:rPr lang="en-US" sz="1400" dirty="0"/>
              <a:t>GRID VIEWPORT EX</a:t>
            </a:r>
            <a:endParaRPr sz="1400" dirty="0"/>
          </a:p>
        </p:txBody>
      </p:sp>
      <p:sp>
        <p:nvSpPr>
          <p:cNvPr id="49" name="Rounded Rectangle 48"/>
          <p:cNvSpPr/>
          <p:nvPr/>
        </p:nvSpPr>
        <p:spPr>
          <a:xfrm>
            <a:off x="6824306" y="2535738"/>
            <a:ext cx="3429000" cy="4873752"/>
          </a:xfrm>
          <a:prstGeom prst="rect">
            <a:avLst/>
          </a:prstGeom>
          <a:solidFill>
            <a:srgbClr val="FDFDFD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A2D27C2-615C-5891-6E57-F6191C9DA7AF}"/>
              </a:ext>
            </a:extLst>
          </p:cNvPr>
          <p:cNvSpPr txBox="1"/>
          <p:nvPr/>
        </p:nvSpPr>
        <p:spPr>
          <a:xfrm>
            <a:off x="1874519" y="274320"/>
            <a:ext cx="6419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Oswald"/>
              </a:defRPr>
            </a:pPr>
            <a:r>
              <a:rPr sz="3200" dirty="0" err="1"/>
              <a:t>Sten</a:t>
            </a:r>
            <a:r>
              <a:rPr lang="en-US" sz="3200" dirty="0" err="1"/>
              <a:t>oqwit</a:t>
            </a:r>
            <a:r>
              <a:rPr lang="en-US" sz="3200" dirty="0"/>
              <a:t>:</a:t>
            </a:r>
            <a:r>
              <a:rPr sz="3200" dirty="0"/>
              <a:t> </a:t>
            </a:r>
            <a:r>
              <a:rPr lang="en-US" sz="3200" dirty="0" err="1"/>
              <a:t>Mouseless</a:t>
            </a:r>
            <a:r>
              <a:rPr lang="en-US" sz="3200" dirty="0"/>
              <a:t> </a:t>
            </a:r>
            <a:r>
              <a:rPr sz="3200" dirty="0"/>
              <a:t>Circuit</a:t>
            </a:r>
            <a:r>
              <a:rPr lang="en-US" sz="3200" dirty="0"/>
              <a:t> </a:t>
            </a:r>
            <a:r>
              <a:rPr sz="3200" dirty="0"/>
              <a:t>Editor</a:t>
            </a:r>
            <a:endParaRPr lang="en-US" sz="3200" dirty="0"/>
          </a:p>
          <a:p>
            <a:pPr algn="l">
              <a:defRPr sz="1200" b="0">
                <a:solidFill>
                  <a:srgbClr val="FFFFFF"/>
                </a:solidFill>
                <a:latin typeface="Oswald"/>
              </a:defRPr>
            </a:pPr>
            <a:r>
              <a:rPr lang="en-US" sz="1600" dirty="0"/>
              <a:t>Attribute to: Christian Galvez</a:t>
            </a:r>
            <a:endParaRPr sz="1600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4F3AB3CE-3145-5796-7509-0AE986979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306" y="2535738"/>
            <a:ext cx="3429000" cy="3583459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4A41A5D6-1DDD-A219-1611-D6E2A85AD3BF}"/>
              </a:ext>
            </a:extLst>
          </p:cNvPr>
          <p:cNvSpPr txBox="1"/>
          <p:nvPr/>
        </p:nvSpPr>
        <p:spPr>
          <a:xfrm>
            <a:off x="6842594" y="6542290"/>
            <a:ext cx="34289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https://github.com/puqeko/circuits.git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31EAF4F1-0AD3-38AA-8108-985CDBE8A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59" y="39019"/>
            <a:ext cx="1442445" cy="12121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25400"/>
          </a:xfrm>
          <a:prstGeom prst="rect">
            <a:avLst/>
          </a:prstGeom>
          <a:solidFill>
            <a:srgbClr val="3D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3823A"/>
                </a:solidFill>
                <a:latin typeface="Open Sans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47B39"/>
                </a:solidFill>
                <a:latin typeface="Oswald"/>
              </a:defRPr>
            </a:pPr>
            <a:r>
              <a:rPr lang="en-US" dirty="0"/>
              <a:t>Schematic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11480" y="2212848"/>
            <a:ext cx="7955279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2212848"/>
            <a:ext cx="7955279" cy="329184"/>
          </a:xfrm>
          <a:prstGeom prst="roundRect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7589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Open Sans"/>
              </a:defRPr>
            </a:pPr>
            <a:r>
              <a:rPr dirty="0"/>
              <a:t>KICAD SCHEMATIC</a:t>
            </a:r>
          </a:p>
        </p:txBody>
      </p:sp>
      <p:pic>
        <p:nvPicPr>
          <p:cNvPr id="14" name="Picture 13" descr="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46" y="3118104"/>
            <a:ext cx="7831962" cy="383133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641080" y="2212848"/>
            <a:ext cx="3154680" cy="274889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41080" y="2212848"/>
            <a:ext cx="3154680" cy="329184"/>
          </a:xfrm>
          <a:prstGeom prst="roundRect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60" y="2286000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Open Sans"/>
              </a:defRPr>
            </a:pPr>
            <a:r>
              <a:t>SPECIFICATION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64261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t>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642616"/>
            <a:ext cx="2057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rPr dirty="0"/>
              <a:t>23 Cherry MX2A</a:t>
            </a:r>
            <a:br>
              <a:rPr dirty="0"/>
            </a:br>
            <a:r>
              <a:rPr dirty="0"/>
              <a:t>+ 2u stabilizer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11810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t>Diodes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3118104"/>
            <a:ext cx="2057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rPr dirty="0"/>
              <a:t>23 1N4148W SOD-123</a:t>
            </a:r>
            <a:br>
              <a:rPr dirty="0"/>
            </a:br>
            <a:r>
              <a:rPr dirty="0"/>
              <a:t>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59359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t>MCU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593592"/>
            <a:ext cx="2057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rPr dirty="0" err="1"/>
              <a:t>SparkFun</a:t>
            </a:r>
            <a:r>
              <a:rPr dirty="0"/>
              <a:t> </a:t>
            </a:r>
            <a:r>
              <a:rPr dirty="0" err="1"/>
              <a:t>Qwiic</a:t>
            </a:r>
            <a:r>
              <a:rPr dirty="0"/>
              <a:t> </a:t>
            </a:r>
            <a:endParaRPr lang="en-US" dirty="0"/>
          </a:p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rPr dirty="0"/>
              <a:t>Pro</a:t>
            </a:r>
            <a:r>
              <a:rPr lang="en-US" dirty="0"/>
              <a:t> </a:t>
            </a:r>
            <a:r>
              <a:rPr dirty="0"/>
              <a:t>Micro USB-C (ATmega32U4)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4258557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Open Sans"/>
              </a:defRPr>
            </a:pPr>
            <a:r>
              <a:t>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9780" y="4258557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rPr dirty="0"/>
              <a:t>3 rows × 10 cols</a:t>
            </a:r>
            <a:br>
              <a:rPr dirty="0"/>
            </a:br>
            <a:r>
              <a:rPr dirty="0"/>
              <a:t>MATRIX_ROW_PINS PD4/0/1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FFF8A5-8449-7819-879F-F5115E128377}"/>
              </a:ext>
            </a:extLst>
          </p:cNvPr>
          <p:cNvSpPr txBox="1"/>
          <p:nvPr/>
        </p:nvSpPr>
        <p:spPr>
          <a:xfrm>
            <a:off x="1874519" y="274320"/>
            <a:ext cx="6419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Oswald"/>
              </a:defRPr>
            </a:pPr>
            <a:r>
              <a:rPr sz="3200" dirty="0" err="1"/>
              <a:t>Sten</a:t>
            </a:r>
            <a:r>
              <a:rPr lang="en-US" sz="3200" dirty="0" err="1"/>
              <a:t>oqwit</a:t>
            </a:r>
            <a:r>
              <a:rPr lang="en-US" sz="3200" dirty="0"/>
              <a:t>:</a:t>
            </a:r>
            <a:r>
              <a:rPr sz="3200" dirty="0"/>
              <a:t> </a:t>
            </a:r>
            <a:r>
              <a:rPr lang="en-US" sz="3200" dirty="0" err="1"/>
              <a:t>Mouseless</a:t>
            </a:r>
            <a:r>
              <a:rPr lang="en-US" sz="3200" dirty="0"/>
              <a:t> </a:t>
            </a:r>
            <a:r>
              <a:rPr sz="3200" dirty="0"/>
              <a:t>Circuit</a:t>
            </a:r>
            <a:r>
              <a:rPr lang="en-US" sz="3200" dirty="0"/>
              <a:t> </a:t>
            </a:r>
            <a:r>
              <a:rPr sz="3200" dirty="0"/>
              <a:t>Editor</a:t>
            </a:r>
            <a:endParaRPr lang="en-US" sz="3200" dirty="0"/>
          </a:p>
          <a:p>
            <a:pPr algn="l">
              <a:defRPr sz="1200" b="0">
                <a:solidFill>
                  <a:srgbClr val="FFFFFF"/>
                </a:solidFill>
                <a:latin typeface="Oswald"/>
              </a:defRPr>
            </a:pPr>
            <a:r>
              <a:rPr lang="en-US" sz="1600" dirty="0"/>
              <a:t>Attribute to: Christian Galvez</a:t>
            </a:r>
            <a:endParaRPr sz="16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8B9A8A1-D9B3-C68B-2C9A-2DBFF4032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59" y="39019"/>
            <a:ext cx="1442445" cy="12121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25400"/>
          </a:xfrm>
          <a:prstGeom prst="rect">
            <a:avLst/>
          </a:prstGeom>
          <a:solidFill>
            <a:srgbClr val="3D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3823A"/>
                </a:solidFill>
                <a:latin typeface="Open Sans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47B39"/>
                </a:solidFill>
                <a:latin typeface="Oswald"/>
              </a:defRPr>
            </a:pPr>
            <a: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Open Sans"/>
              </a:defRPr>
            </a:pPr>
            <a:r>
              <a:t>A keyboard-first EDA workflow builds rare, transferable skills — and makes schematic capture accessible.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212848"/>
            <a:ext cx="56692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2212848"/>
            <a:ext cx="5669280" cy="38100"/>
          </a:xfrm>
          <a:prstGeom prst="roundRect">
            <a:avLst/>
          </a:prstGeom>
          <a:solidFill>
            <a:srgbClr val="C3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359152"/>
            <a:ext cx="5303520" cy="247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defRPr sz="1200" b="1">
                <a:solidFill>
                  <a:srgbClr val="C3823A"/>
                </a:solidFill>
                <a:latin typeface="Oswald"/>
              </a:defRPr>
            </a:pPr>
            <a:r>
              <a:rPr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ACCESSIBILITY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&amp; ERGONOMICS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71216"/>
            <a:ext cx="5303520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1200">
                <a:solidFill>
                  <a:srgbClr val="333333"/>
                </a:solidFill>
                <a:latin typeface="Open Sans"/>
              </a:defRPr>
            </a:pPr>
            <a:r>
              <a:rPr dirty="0"/>
              <a:t>Full schematic capture without a mouse. </a:t>
            </a:r>
            <a:r>
              <a:rPr lang="en-US" dirty="0"/>
              <a:t>Good for users with arthritis/wrist mobility issues</a:t>
            </a:r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594360" y="3511529"/>
            <a:ext cx="76200" cy="76200"/>
          </a:xfrm>
          <a:prstGeom prst="ellipse">
            <a:avLst/>
          </a:prstGeom>
          <a:solidFill>
            <a:srgbClr val="C3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" y="3448029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No mouse dependency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767561"/>
            <a:ext cx="76200" cy="76200"/>
          </a:xfrm>
          <a:prstGeom prst="ellipse">
            <a:avLst/>
          </a:prstGeom>
          <a:solidFill>
            <a:srgbClr val="C3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3704061"/>
            <a:ext cx="5157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Minimal</a:t>
            </a:r>
            <a:r>
              <a:rPr dirty="0"/>
              <a:t> hand travel &amp; strain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212848"/>
            <a:ext cx="56692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55080" y="2212848"/>
            <a:ext cx="5669280" cy="38100"/>
          </a:xfrm>
          <a:prstGeom prst="roundRect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2359152"/>
            <a:ext cx="5303520" cy="247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defRPr sz="1200" b="1">
                <a:solidFill>
                  <a:srgbClr val="568078"/>
                </a:solidFill>
                <a:latin typeface="Oswald"/>
              </a:defRPr>
            </a:pPr>
            <a:r>
              <a:rPr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TECHNICAL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871216"/>
            <a:ext cx="5303520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1200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Hardware</a:t>
            </a:r>
            <a:r>
              <a:rPr dirty="0"/>
              <a:t>, firmware, EDA, and software architecture in one project.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3469494"/>
            <a:ext cx="76200" cy="76200"/>
          </a:xfrm>
          <a:prstGeom prst="ellipse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84264" y="3405994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dirty="0" err="1"/>
              <a:t>KiCad</a:t>
            </a:r>
            <a:r>
              <a:rPr dirty="0"/>
              <a:t> schematic &amp; PCB design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3725526"/>
            <a:ext cx="76200" cy="76200"/>
          </a:xfrm>
          <a:prstGeom prst="ellipse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3662026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t>QMK firmware &amp; matrix scanning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3981558"/>
            <a:ext cx="76200" cy="76200"/>
          </a:xfrm>
          <a:prstGeom prst="ellipse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84264" y="3918058"/>
            <a:ext cx="5157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Rust </a:t>
            </a:r>
            <a:r>
              <a:rPr dirty="0"/>
              <a:t>architecture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4237590"/>
            <a:ext cx="76200" cy="76200"/>
          </a:xfrm>
          <a:prstGeom prst="ellipse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84264" y="4174090"/>
            <a:ext cx="5157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D</a:t>
            </a:r>
            <a:r>
              <a:rPr dirty="0"/>
              <a:t>ata modeling &amp; export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010912"/>
            <a:ext cx="56692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11480" y="5010912"/>
            <a:ext cx="5669280" cy="38100"/>
          </a:xfrm>
          <a:prstGeom prst="round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157216"/>
            <a:ext cx="5303520" cy="247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defRPr sz="1200" b="1">
                <a:solidFill>
                  <a:srgbClr val="BF9000"/>
                </a:solidFill>
                <a:latin typeface="Oswald"/>
              </a:defRPr>
            </a:pPr>
            <a:r>
              <a:rPr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EDUCATIONAL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669280"/>
            <a:ext cx="5303520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1200">
                <a:solidFill>
                  <a:srgbClr val="333333"/>
                </a:solidFill>
                <a:latin typeface="Open Sans"/>
              </a:defRPr>
            </a:pPr>
            <a:r>
              <a:rPr dirty="0"/>
              <a:t>A teaching platform for </a:t>
            </a:r>
            <a:r>
              <a:rPr lang="en-US" dirty="0"/>
              <a:t>chorded key-</a:t>
            </a:r>
            <a:r>
              <a:rPr dirty="0"/>
              <a:t>input</a:t>
            </a:r>
            <a:r>
              <a:rPr lang="en-US" dirty="0"/>
              <a:t>s</a:t>
            </a:r>
            <a:r>
              <a:rPr dirty="0"/>
              <a:t>, human-computer interaction, and open-hardware product design.</a:t>
            </a:r>
          </a:p>
        </p:txBody>
      </p:sp>
      <p:sp>
        <p:nvSpPr>
          <p:cNvPr id="36" name="Oval 35"/>
          <p:cNvSpPr/>
          <p:nvPr/>
        </p:nvSpPr>
        <p:spPr>
          <a:xfrm>
            <a:off x="594360" y="6297376"/>
            <a:ext cx="76200" cy="762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" y="6233876"/>
            <a:ext cx="5157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Steno </a:t>
            </a:r>
            <a:r>
              <a:rPr dirty="0"/>
              <a:t>theory &amp; dictionary design</a:t>
            </a:r>
          </a:p>
        </p:txBody>
      </p:sp>
      <p:sp>
        <p:nvSpPr>
          <p:cNvPr id="38" name="Oval 37"/>
          <p:cNvSpPr/>
          <p:nvPr/>
        </p:nvSpPr>
        <p:spPr>
          <a:xfrm>
            <a:off x="594360" y="6553408"/>
            <a:ext cx="76200" cy="762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" y="6489908"/>
            <a:ext cx="5157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dirty="0"/>
              <a:t>State-machin</a:t>
            </a:r>
            <a:r>
              <a:rPr lang="en-US" dirty="0"/>
              <a:t>e</a:t>
            </a:r>
            <a:endParaRPr dirty="0"/>
          </a:p>
        </p:txBody>
      </p:sp>
      <p:sp>
        <p:nvSpPr>
          <p:cNvPr id="42" name="Oval 41"/>
          <p:cNvSpPr/>
          <p:nvPr/>
        </p:nvSpPr>
        <p:spPr>
          <a:xfrm>
            <a:off x="594360" y="6803419"/>
            <a:ext cx="76200" cy="76200"/>
          </a:xfrm>
          <a:prstGeom prst="ellipse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0664" y="6739919"/>
            <a:ext cx="5157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Test frameworks</a:t>
            </a:r>
            <a:endParaRPr dirty="0"/>
          </a:p>
        </p:txBody>
      </p:sp>
      <p:sp>
        <p:nvSpPr>
          <p:cNvPr id="44" name="Rounded Rectangle 43"/>
          <p:cNvSpPr/>
          <p:nvPr/>
        </p:nvSpPr>
        <p:spPr>
          <a:xfrm>
            <a:off x="6355080" y="5010912"/>
            <a:ext cx="56692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355080" y="5010912"/>
            <a:ext cx="5669280" cy="38100"/>
          </a:xfrm>
          <a:prstGeom prst="roundRect">
            <a:avLst/>
          </a:prstGeom>
          <a:solidFill>
            <a:srgbClr val="78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37960" y="5157216"/>
            <a:ext cx="5303520" cy="247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defRPr sz="1200" b="1">
                <a:solidFill>
                  <a:srgbClr val="789892"/>
                </a:solidFill>
                <a:latin typeface="Oswald"/>
              </a:defRPr>
            </a:pPr>
            <a:r>
              <a:rPr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 &amp; REUSABLE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669280"/>
            <a:ext cx="5303520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1200">
                <a:solidFill>
                  <a:srgbClr val="333333"/>
                </a:solidFill>
                <a:latin typeface="Open Sans"/>
              </a:defRPr>
            </a:pPr>
            <a:r>
              <a:rPr dirty="0"/>
              <a:t>Everything is open: spec, firmware, PCB, and editor. </a:t>
            </a:r>
            <a:r>
              <a:rPr lang="en-US" dirty="0"/>
              <a:t>User dictionaries</a:t>
            </a:r>
            <a:r>
              <a:rPr dirty="0"/>
              <a:t> &amp; macros compound community value.</a:t>
            </a:r>
          </a:p>
        </p:txBody>
      </p:sp>
      <p:pic>
        <p:nvPicPr>
          <p:cNvPr id="62" name="Picture 61" descr="GitHub Logo, symbol, meaning, history, PNG, brand">
            <a:extLst>
              <a:ext uri="{FF2B5EF4-FFF2-40B4-BE49-F238E27FC236}">
                <a16:creationId xmlns:a16="http://schemas.microsoft.com/office/drawing/2014/main" id="{910DA00A-1751-1FF8-03ED-665995AD7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163" y="5787950"/>
            <a:ext cx="3211114" cy="1806251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DE1A6D8A-754D-E6F0-FD6F-04EA59380C15}"/>
              </a:ext>
            </a:extLst>
          </p:cNvPr>
          <p:cNvSpPr txBox="1"/>
          <p:nvPr/>
        </p:nvSpPr>
        <p:spPr>
          <a:xfrm>
            <a:off x="1874519" y="274320"/>
            <a:ext cx="6419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Oswald"/>
              </a:defRPr>
            </a:pPr>
            <a:r>
              <a:rPr sz="3200" dirty="0" err="1"/>
              <a:t>Sten</a:t>
            </a:r>
            <a:r>
              <a:rPr lang="en-US" sz="3200" dirty="0" err="1"/>
              <a:t>oqwit</a:t>
            </a:r>
            <a:r>
              <a:rPr lang="en-US" sz="3200" dirty="0"/>
              <a:t>:</a:t>
            </a:r>
            <a:r>
              <a:rPr sz="3200" dirty="0"/>
              <a:t> </a:t>
            </a:r>
            <a:r>
              <a:rPr lang="en-US" sz="3200" dirty="0" err="1"/>
              <a:t>Mouseless</a:t>
            </a:r>
            <a:r>
              <a:rPr lang="en-US" sz="3200" dirty="0"/>
              <a:t> </a:t>
            </a:r>
            <a:r>
              <a:rPr sz="3200" dirty="0"/>
              <a:t>Circuit</a:t>
            </a:r>
            <a:r>
              <a:rPr lang="en-US" sz="3200" dirty="0"/>
              <a:t> </a:t>
            </a:r>
            <a:r>
              <a:rPr sz="3200" dirty="0"/>
              <a:t>Editor</a:t>
            </a:r>
            <a:endParaRPr lang="en-US" sz="3200" dirty="0"/>
          </a:p>
          <a:p>
            <a:pPr algn="l">
              <a:defRPr sz="1200" b="0">
                <a:solidFill>
                  <a:srgbClr val="FFFFFF"/>
                </a:solidFill>
                <a:latin typeface="Oswald"/>
              </a:defRPr>
            </a:pPr>
            <a:r>
              <a:rPr lang="en-US" sz="1600" dirty="0"/>
              <a:t>Attribute to: Christian Galvez</a:t>
            </a:r>
            <a:endParaRPr sz="160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F3F4685C-ED9E-EB84-E03A-40C8F3166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59" y="39019"/>
            <a:ext cx="1442445" cy="12121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25400"/>
          </a:xfrm>
          <a:prstGeom prst="rect">
            <a:avLst/>
          </a:prstGeom>
          <a:solidFill>
            <a:srgbClr val="3D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3823A"/>
                </a:solidFill>
                <a:latin typeface="Open Sans"/>
              </a:defRPr>
            </a:pPr>
            <a:r>
              <a:rPr dirty="0"/>
              <a:t>0</a:t>
            </a:r>
            <a:r>
              <a:rPr lang="en-US" dirty="0"/>
              <a:t>5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COMPONENT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47B39"/>
                </a:solidFill>
                <a:latin typeface="Oswald"/>
              </a:defRPr>
            </a:pPr>
            <a:r>
              <a:rPr dirty="0"/>
              <a:t>Bill of</a:t>
            </a:r>
            <a:r>
              <a:rPr lang="en-US" dirty="0"/>
              <a:t> Materials (BOM)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11480" y="2212848"/>
            <a:ext cx="11384280" cy="5532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239365"/>
              </p:ext>
            </p:extLst>
          </p:nvPr>
        </p:nvGraphicFramePr>
        <p:xfrm>
          <a:off x="602914" y="2408020"/>
          <a:ext cx="109829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2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3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3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568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rPr dirty="0"/>
                        <a:t>Qty</a:t>
                      </a:r>
                    </a:p>
                  </a:txBody>
                  <a:tcPr anchor="ctr">
                    <a:solidFill>
                      <a:srgbClr val="568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rPr lang="en-US" dirty="0"/>
                        <a:t>Per Unit</a:t>
                      </a:r>
                      <a:endParaRPr dirty="0"/>
                    </a:p>
                  </a:txBody>
                  <a:tcPr anchor="ctr">
                    <a:solidFill>
                      <a:srgbClr val="568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rPr lang="en-US" dirty="0"/>
                        <a:t>Total</a:t>
                      </a:r>
                      <a:endParaRPr dirty="0"/>
                    </a:p>
                  </a:txBody>
                  <a:tcPr anchor="ctr">
                    <a:solidFill>
                      <a:srgbClr val="5680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Cherry MX2A Brown (1644-MX2A-G1NB)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$1.75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$40.25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1N4148W SOD-123 diodes (1655-1N4148W)</a:t>
                      </a:r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23</a:t>
                      </a:r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$0.06</a:t>
                      </a:r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$1.36</a:t>
                      </a:r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SparkFun Qwiic Pro Micro USB-C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$23.95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$23.95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MX 2u Stabilizer (S1)</a:t>
                      </a:r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$1.50</a:t>
                      </a:r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$1.50</a:t>
                      </a:r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Pin headers TS-112-T-A-1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$2.35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$4.70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rPr dirty="0"/>
                        <a:t>PCB </a:t>
                      </a:r>
                      <a:r>
                        <a:rPr lang="en-US" dirty="0"/>
                        <a:t>(</a:t>
                      </a:r>
                      <a:r>
                        <a:rPr dirty="0"/>
                        <a:t>JLCPCB </a:t>
                      </a:r>
                      <a:r>
                        <a:rPr lang="en-US" dirty="0"/>
                        <a:t>HASL-LF)</a:t>
                      </a:r>
                      <a:endParaRPr dirty="0"/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4</a:t>
                      </a:r>
                      <a:r>
                        <a:rPr dirty="0"/>
                        <a:t>.00</a:t>
                      </a:r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$12.00</a:t>
                      </a:r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Case / Plate (3D-printed or FR4)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USB-C cable</a:t>
                      </a:r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L="76200" marR="76200" marT="25400" marB="25400" anchor="ctr"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rPr dirty="0"/>
                        <a:t>Screws, </a:t>
                      </a:r>
                      <a:r>
                        <a:rPr dirty="0" err="1"/>
                        <a:t>misc</a:t>
                      </a:r>
                      <a:r>
                        <a:rPr dirty="0"/>
                        <a:t> </a:t>
                      </a:r>
                      <a:r>
                        <a:rPr lang="en-US" dirty="0"/>
                        <a:t>components</a:t>
                      </a:r>
                      <a:endParaRPr dirty="0"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rPr lang="en-US" dirty="0"/>
                        <a:t>As needed</a:t>
                      </a:r>
                      <a:endParaRPr dirty="0"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27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rPr dirty="0"/>
                        <a:t>TOTAL</a:t>
                      </a:r>
                      <a:r>
                        <a:rPr lang="en-US" dirty="0"/>
                        <a:t> COST</a:t>
                      </a:r>
                      <a:endParaRPr dirty="0"/>
                    </a:p>
                  </a:txBody>
                  <a:tcPr marL="76200" marR="76200" marT="25400" marB="25400" anchor="ctr">
                    <a:solidFill>
                      <a:srgbClr val="C38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 dirty="0"/>
                    </a:p>
                  </a:txBody>
                  <a:tcPr marL="76200" marR="76200" marT="25400" marB="25400" anchor="ctr">
                    <a:solidFill>
                      <a:srgbClr val="C38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endParaRPr dirty="0"/>
                    </a:p>
                  </a:txBody>
                  <a:tcPr marL="76200" marR="76200" marT="25400" marB="25400" anchor="ctr">
                    <a:solidFill>
                      <a:srgbClr val="C38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86</a:t>
                      </a:r>
                      <a:r>
                        <a:rPr dirty="0"/>
                        <a:t>.26</a:t>
                      </a:r>
                    </a:p>
                  </a:txBody>
                  <a:tcPr marL="76200" marR="76200" marT="25400" marB="25400" anchor="ctr">
                    <a:solidFill>
                      <a:srgbClr val="C38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0D5AC6C-53B1-B019-127C-1597513B7348}"/>
              </a:ext>
            </a:extLst>
          </p:cNvPr>
          <p:cNvSpPr txBox="1"/>
          <p:nvPr/>
        </p:nvSpPr>
        <p:spPr>
          <a:xfrm>
            <a:off x="602914" y="7219572"/>
            <a:ext cx="109829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77777"/>
                </a:solidFill>
                <a:latin typeface="Open Sans"/>
              </a:defRPr>
            </a:pPr>
            <a:r>
              <a:rPr lang="en-US" dirty="0"/>
              <a:t>*Refer to .xlsx for more details. Shipping &amp; tariffs not included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02589F-7FA9-199E-012B-E057639E32E6}"/>
              </a:ext>
            </a:extLst>
          </p:cNvPr>
          <p:cNvSpPr txBox="1"/>
          <p:nvPr/>
        </p:nvSpPr>
        <p:spPr>
          <a:xfrm>
            <a:off x="1874519" y="274320"/>
            <a:ext cx="6419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Oswald"/>
              </a:defRPr>
            </a:pPr>
            <a:r>
              <a:rPr sz="3200" dirty="0" err="1"/>
              <a:t>Sten</a:t>
            </a:r>
            <a:r>
              <a:rPr lang="en-US" sz="3200" dirty="0" err="1"/>
              <a:t>oqwit</a:t>
            </a:r>
            <a:r>
              <a:rPr lang="en-US" sz="3200" dirty="0"/>
              <a:t>:</a:t>
            </a:r>
            <a:r>
              <a:rPr sz="3200" dirty="0"/>
              <a:t> </a:t>
            </a:r>
            <a:r>
              <a:rPr lang="en-US" sz="3200" dirty="0" err="1"/>
              <a:t>Mouseless</a:t>
            </a:r>
            <a:r>
              <a:rPr lang="en-US" sz="3200" dirty="0"/>
              <a:t> </a:t>
            </a:r>
            <a:r>
              <a:rPr sz="3200" dirty="0"/>
              <a:t>Circuit</a:t>
            </a:r>
            <a:r>
              <a:rPr lang="en-US" sz="3200" dirty="0"/>
              <a:t> </a:t>
            </a:r>
            <a:r>
              <a:rPr sz="3200" dirty="0"/>
              <a:t>Editor</a:t>
            </a:r>
            <a:endParaRPr lang="en-US" sz="3200" dirty="0"/>
          </a:p>
          <a:p>
            <a:pPr algn="l">
              <a:defRPr sz="1200" b="0">
                <a:solidFill>
                  <a:srgbClr val="FFFFFF"/>
                </a:solidFill>
                <a:latin typeface="Oswald"/>
              </a:defRPr>
            </a:pPr>
            <a:r>
              <a:rPr lang="en-US" sz="1600" dirty="0"/>
              <a:t>Attribute to: Christian Galvez</a:t>
            </a:r>
            <a:endParaRPr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CB1512E-C343-8285-7793-50F4AB8CD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59" y="39019"/>
            <a:ext cx="1442445" cy="1212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25400"/>
          </a:xfrm>
          <a:prstGeom prst="rect">
            <a:avLst/>
          </a:prstGeom>
          <a:solidFill>
            <a:srgbClr val="3D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3823A"/>
                </a:solidFill>
                <a:latin typeface="Open Sans"/>
              </a:defRPr>
            </a:pPr>
            <a:r>
              <a:rPr dirty="0"/>
              <a:t>0</a:t>
            </a:r>
            <a:r>
              <a:rPr lang="en-US" dirty="0"/>
              <a:t>6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47B39"/>
                </a:solidFill>
                <a:latin typeface="Oswald"/>
              </a:defRPr>
            </a:pPr>
            <a:r>
              <a:rPr lang="en-US" dirty="0"/>
              <a:t>T</a:t>
            </a:r>
            <a:r>
              <a:rPr dirty="0"/>
              <a:t>imeline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212848"/>
            <a:ext cx="11384280" cy="55321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" y="2212848"/>
            <a:ext cx="11384280" cy="329184"/>
          </a:xfrm>
          <a:prstGeom prst="rect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11018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Open Sans"/>
              </a:defRPr>
            </a:pPr>
            <a:r>
              <a:rPr dirty="0"/>
              <a:t>GANTT </a:t>
            </a:r>
            <a:r>
              <a:rPr lang="en-US" dirty="0"/>
              <a:t>CHART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542032" y="2615184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77777"/>
                </a:solidFill>
                <a:latin typeface="Open Sans"/>
              </a:defRPr>
            </a:pPr>
            <a:r>
              <a:rPr dirty="0"/>
              <a:t>W1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80944" y="2816352"/>
            <a:ext cx="9525" cy="42245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94176" y="2615184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77777"/>
                </a:solidFill>
                <a:latin typeface="Open Sans"/>
              </a:defRPr>
            </a:pPr>
            <a:r>
              <a:rPr dirty="0"/>
              <a:t>W3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3088" y="2816352"/>
            <a:ext cx="9525" cy="42245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0" y="2615184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77777"/>
                </a:solidFill>
                <a:latin typeface="Open Sans"/>
              </a:defRPr>
            </a:pPr>
            <a:r>
              <a:rPr dirty="0"/>
              <a:t>W5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85232" y="2816352"/>
            <a:ext cx="9525" cy="42245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98464" y="2615184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77777"/>
                </a:solidFill>
                <a:latin typeface="Open Sans"/>
              </a:defRPr>
            </a:pPr>
            <a:r>
              <a:rPr dirty="0"/>
              <a:t>W7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7376" y="2816352"/>
            <a:ext cx="9525" cy="42245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50608" y="2615184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77777"/>
                </a:solidFill>
                <a:latin typeface="Open Sans"/>
              </a:defRPr>
            </a:pPr>
            <a:r>
              <a:rPr dirty="0"/>
              <a:t>W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7589520" y="2816352"/>
            <a:ext cx="9525" cy="42245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2" y="2615184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77777"/>
                </a:solidFill>
                <a:latin typeface="Open Sans"/>
              </a:defRPr>
            </a:pPr>
            <a:r>
              <a:rPr dirty="0"/>
              <a:t>W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8741664" y="2816352"/>
            <a:ext cx="9525" cy="42245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54896" y="2615184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77777"/>
                </a:solidFill>
                <a:latin typeface="Open Sans"/>
              </a:defRPr>
            </a:pPr>
            <a:r>
              <a:rPr dirty="0"/>
              <a:t>W1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9893808" y="2816352"/>
            <a:ext cx="9525" cy="42245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0" y="2615184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77777"/>
                </a:solidFill>
                <a:latin typeface="Open Sans"/>
              </a:defRPr>
            </a:pPr>
            <a:r>
              <a:rPr dirty="0"/>
              <a:t>W1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11045952" y="2816352"/>
            <a:ext cx="9525" cy="422452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1792" y="2907792"/>
            <a:ext cx="1691640" cy="621792"/>
          </a:xfrm>
          <a:prstGeom prst="roundRect">
            <a:avLst/>
          </a:prstGeom>
          <a:solidFill>
            <a:srgbClr val="F9F9F9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" y="2907792"/>
            <a:ext cx="50800" cy="621792"/>
          </a:xfrm>
          <a:prstGeom prst="rect">
            <a:avLst/>
          </a:prstGeom>
          <a:solidFill>
            <a:srgbClr val="56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2958592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68078"/>
                </a:solidFill>
                <a:latin typeface="Open Sans"/>
              </a:defRPr>
            </a:pPr>
            <a:r>
              <a:t>PHASE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128243"/>
            <a:ext cx="1536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Terminal</a:t>
            </a:r>
            <a:endParaRPr dirty="0"/>
          </a:p>
        </p:txBody>
      </p:sp>
      <p:sp>
        <p:nvSpPr>
          <p:cNvPr id="34" name="Rounded Rectangle 33"/>
          <p:cNvSpPr/>
          <p:nvPr/>
        </p:nvSpPr>
        <p:spPr>
          <a:xfrm>
            <a:off x="2578608" y="2980944"/>
            <a:ext cx="2231136" cy="475488"/>
          </a:xfrm>
          <a:prstGeom prst="rect">
            <a:avLst/>
          </a:prstGeom>
          <a:solidFill>
            <a:srgbClr val="56807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70048" y="3040888"/>
            <a:ext cx="2084832" cy="37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1200">
                <a:solidFill>
                  <a:srgbClr val="FFFFFF"/>
                </a:solidFill>
                <a:latin typeface="Open Sans"/>
              </a:defRPr>
            </a:pPr>
            <a:r>
              <a:rPr lang="en-US" dirty="0"/>
              <a:t>Terminal output to verify hardware key presses</a:t>
            </a:r>
            <a:endParaRPr dirty="0"/>
          </a:p>
        </p:txBody>
      </p:sp>
      <p:sp>
        <p:nvSpPr>
          <p:cNvPr id="37" name="Rounded Rectangle 36"/>
          <p:cNvSpPr/>
          <p:nvPr/>
        </p:nvSpPr>
        <p:spPr>
          <a:xfrm>
            <a:off x="621792" y="3657600"/>
            <a:ext cx="1691640" cy="621792"/>
          </a:xfrm>
          <a:prstGeom prst="roundRect">
            <a:avLst/>
          </a:prstGeom>
          <a:solidFill>
            <a:srgbClr val="F9F9F9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" y="3657600"/>
            <a:ext cx="50800" cy="621792"/>
          </a:xfrm>
          <a:prstGeom prst="rect">
            <a:avLst/>
          </a:prstGeom>
          <a:solidFill>
            <a:srgbClr val="789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3708400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9892"/>
                </a:solidFill>
                <a:latin typeface="Open Sans"/>
              </a:defRPr>
            </a:pPr>
            <a:r>
              <a:t>PHASE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872992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dirty="0"/>
              <a:t>Usability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30752" y="3730752"/>
            <a:ext cx="2231136" cy="475488"/>
          </a:xfrm>
          <a:prstGeom prst="rect">
            <a:avLst/>
          </a:prstGeom>
          <a:solidFill>
            <a:srgbClr val="78989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22192" y="3730752"/>
            <a:ext cx="2084832" cy="520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1200">
                <a:solidFill>
                  <a:srgbClr val="FFFFFF"/>
                </a:solidFill>
                <a:latin typeface="Open Sans"/>
              </a:defRPr>
            </a:pPr>
            <a:r>
              <a:rPr dirty="0"/>
              <a:t>Command palette, fuzzy</a:t>
            </a:r>
            <a:br>
              <a:rPr dirty="0"/>
            </a:br>
            <a:r>
              <a:rPr dirty="0"/>
              <a:t>search, labels, selection</a:t>
            </a:r>
            <a:br>
              <a:rPr dirty="0"/>
            </a:br>
            <a:r>
              <a:rPr dirty="0"/>
              <a:t>cycling, copy/paste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" y="4407408"/>
            <a:ext cx="1691640" cy="621792"/>
          </a:xfrm>
          <a:prstGeom prst="roundRect">
            <a:avLst/>
          </a:prstGeom>
          <a:solidFill>
            <a:srgbClr val="F9F9F9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" y="4407408"/>
            <a:ext cx="50800" cy="621792"/>
          </a:xfrm>
          <a:prstGeom prst="rect">
            <a:avLst/>
          </a:prstGeom>
          <a:solidFill>
            <a:srgbClr val="C38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458208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3823A"/>
                </a:solidFill>
                <a:latin typeface="Open Sans"/>
              </a:defRPr>
            </a:pPr>
            <a:r>
              <a:t>PHASE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627554"/>
            <a:ext cx="16184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dirty="0"/>
              <a:t>Stenographic </a:t>
            </a:r>
            <a:r>
              <a:rPr lang="en-US" dirty="0"/>
              <a:t>keying</a:t>
            </a:r>
            <a:endParaRPr dirty="0"/>
          </a:p>
        </p:txBody>
      </p:sp>
      <p:sp>
        <p:nvSpPr>
          <p:cNvPr id="50" name="Rounded Rectangle 49"/>
          <p:cNvSpPr/>
          <p:nvPr/>
        </p:nvSpPr>
        <p:spPr>
          <a:xfrm>
            <a:off x="4882896" y="4480560"/>
            <a:ext cx="3383280" cy="475488"/>
          </a:xfrm>
          <a:prstGeom prst="rect">
            <a:avLst/>
          </a:prstGeom>
          <a:solidFill>
            <a:srgbClr val="C3823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74336" y="4531244"/>
            <a:ext cx="3236976" cy="37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1200">
                <a:solidFill>
                  <a:srgbClr val="FFFFFF"/>
                </a:solidFill>
                <a:latin typeface="Open Sans"/>
              </a:defRPr>
            </a:pPr>
            <a:r>
              <a:rPr dirty="0"/>
              <a:t>Simultaneous / sequential</a:t>
            </a:r>
            <a:r>
              <a:rPr lang="en-US" dirty="0"/>
              <a:t> </a:t>
            </a:r>
            <a:r>
              <a:rPr dirty="0"/>
              <a:t>/ held chord</a:t>
            </a:r>
            <a:r>
              <a:rPr lang="en-US" dirty="0"/>
              <a:t>ing</a:t>
            </a:r>
            <a:r>
              <a:rPr dirty="0"/>
              <a:t>, preview,</a:t>
            </a:r>
            <a:r>
              <a:rPr lang="en-US" dirty="0"/>
              <a:t> user </a:t>
            </a:r>
            <a:r>
              <a:rPr dirty="0"/>
              <a:t>dictionary</a:t>
            </a:r>
            <a:r>
              <a:rPr lang="en-US" dirty="0"/>
              <a:t>…</a:t>
            </a:r>
            <a:endParaRPr dirty="0"/>
          </a:p>
        </p:txBody>
      </p:sp>
      <p:sp>
        <p:nvSpPr>
          <p:cNvPr id="53" name="Rounded Rectangle 52"/>
          <p:cNvSpPr/>
          <p:nvPr/>
        </p:nvSpPr>
        <p:spPr>
          <a:xfrm>
            <a:off x="621792" y="5157216"/>
            <a:ext cx="1691640" cy="621792"/>
          </a:xfrm>
          <a:prstGeom prst="roundRect">
            <a:avLst/>
          </a:prstGeom>
          <a:solidFill>
            <a:srgbClr val="F9F9F9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1792" y="5157216"/>
            <a:ext cx="50800" cy="621792"/>
          </a:xfrm>
          <a:prstGeom prst="rect">
            <a:avLst/>
          </a:prstGeom>
          <a:solidFill>
            <a:srgbClr val="8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1520" y="5208016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A6BB5"/>
                </a:solidFill>
                <a:latin typeface="Open Sans"/>
              </a:defRPr>
            </a:pPr>
            <a:r>
              <a:t>PHASE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362699"/>
            <a:ext cx="1536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Schematic design</a:t>
            </a:r>
            <a:endParaRPr dirty="0"/>
          </a:p>
        </p:txBody>
      </p:sp>
      <p:sp>
        <p:nvSpPr>
          <p:cNvPr id="58" name="Rounded Rectangle 57"/>
          <p:cNvSpPr/>
          <p:nvPr/>
        </p:nvSpPr>
        <p:spPr>
          <a:xfrm>
            <a:off x="7187184" y="5230368"/>
            <a:ext cx="2231136" cy="475488"/>
          </a:xfrm>
          <a:prstGeom prst="rect">
            <a:avLst/>
          </a:prstGeom>
          <a:solidFill>
            <a:srgbClr val="8A6BB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278624" y="5230368"/>
            <a:ext cx="20848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1200">
                <a:solidFill>
                  <a:srgbClr val="FFFFFF"/>
                </a:solidFill>
                <a:latin typeface="Open Sans"/>
              </a:defRPr>
            </a:pPr>
            <a:r>
              <a:rPr dirty="0"/>
              <a:t>Connectivity graph,</a:t>
            </a:r>
            <a:br>
              <a:rPr dirty="0"/>
            </a:br>
            <a:r>
              <a:rPr dirty="0"/>
              <a:t>junction validation,</a:t>
            </a:r>
            <a:br>
              <a:rPr dirty="0"/>
            </a:br>
            <a:r>
              <a:rPr dirty="0"/>
              <a:t>reference numbering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" y="5907024"/>
            <a:ext cx="1691640" cy="621792"/>
          </a:xfrm>
          <a:prstGeom prst="roundRect">
            <a:avLst/>
          </a:prstGeom>
          <a:solidFill>
            <a:srgbClr val="F9F9F9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21792" y="5907024"/>
            <a:ext cx="50800" cy="621792"/>
          </a:xfrm>
          <a:prstGeom prst="rect">
            <a:avLst/>
          </a:prstGeom>
          <a:solidFill>
            <a:srgbClr val="B4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31520" y="5957824"/>
            <a:ext cx="15361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B39"/>
                </a:solidFill>
                <a:latin typeface="Open Sans"/>
              </a:defRPr>
            </a:pPr>
            <a:r>
              <a:t>PHASE 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6120934"/>
            <a:ext cx="15091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Export to EDA (stretch goal)</a:t>
            </a:r>
            <a:endParaRPr dirty="0"/>
          </a:p>
        </p:txBody>
      </p:sp>
      <p:sp>
        <p:nvSpPr>
          <p:cNvPr id="66" name="Rounded Rectangle 65"/>
          <p:cNvSpPr/>
          <p:nvPr/>
        </p:nvSpPr>
        <p:spPr>
          <a:xfrm>
            <a:off x="8339328" y="5980176"/>
            <a:ext cx="2231136" cy="475488"/>
          </a:xfrm>
          <a:prstGeom prst="rect">
            <a:avLst/>
          </a:prstGeom>
          <a:solidFill>
            <a:srgbClr val="B47B3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430768" y="5980176"/>
            <a:ext cx="2084832" cy="520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  <a:defRPr sz="1200">
                <a:solidFill>
                  <a:srgbClr val="FFFFFF"/>
                </a:solidFill>
                <a:latin typeface="Open Sans"/>
              </a:defRPr>
            </a:pPr>
            <a:r>
              <a:rPr lang="en-US" dirty="0"/>
              <a:t>Export to</a:t>
            </a:r>
            <a:r>
              <a:rPr dirty="0"/>
              <a:t> .</a:t>
            </a:r>
            <a:r>
              <a:rPr dirty="0" err="1"/>
              <a:t>kicad_sch</a:t>
            </a:r>
            <a:r>
              <a:rPr dirty="0"/>
              <a:t>, footprints,</a:t>
            </a:r>
            <a:r>
              <a:rPr lang="en-US" dirty="0"/>
              <a:t> other additional</a:t>
            </a:r>
            <a:r>
              <a:rPr dirty="0"/>
              <a:t> fixtures</a:t>
            </a:r>
            <a:r>
              <a:rPr lang="en-US" dirty="0"/>
              <a:t>,…</a:t>
            </a:r>
            <a:endParaRPr dirty="0"/>
          </a:p>
        </p:txBody>
      </p:sp>
      <p:sp>
        <p:nvSpPr>
          <p:cNvPr id="69" name="Rounded Rectangle 68"/>
          <p:cNvSpPr/>
          <p:nvPr/>
        </p:nvSpPr>
        <p:spPr>
          <a:xfrm>
            <a:off x="621792" y="6729984"/>
            <a:ext cx="1691640" cy="724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8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31520" y="6766560"/>
            <a:ext cx="1536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68078"/>
                </a:solidFill>
                <a:latin typeface="Open Sans"/>
              </a:defRPr>
            </a:pPr>
            <a:r>
              <a:rPr dirty="0"/>
              <a:t>HARDWARE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6944611"/>
            <a:ext cx="1618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dirty="0"/>
              <a:t>PCB fab</a:t>
            </a:r>
            <a:endParaRPr lang="en-US" dirty="0"/>
          </a:p>
          <a:p>
            <a:pPr algn="l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lang="en-US" dirty="0"/>
              <a:t>Ergonomics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578607" y="6784847"/>
            <a:ext cx="5001387" cy="344793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78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615184" y="6821424"/>
            <a:ext cx="4964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Open Sans"/>
              </a:defRPr>
            </a:pPr>
            <a:r>
              <a:rPr dirty="0"/>
              <a:t>Order </a:t>
            </a:r>
            <a:r>
              <a:rPr lang="en-US" dirty="0"/>
              <a:t>→</a:t>
            </a:r>
            <a:r>
              <a:rPr dirty="0"/>
              <a:t> Build </a:t>
            </a:r>
            <a:r>
              <a:rPr lang="en-US" dirty="0"/>
              <a:t>→</a:t>
            </a:r>
            <a:r>
              <a:rPr dirty="0"/>
              <a:t> Test </a:t>
            </a:r>
            <a:r>
              <a:rPr lang="en-US" dirty="0"/>
              <a:t>→ Order</a:t>
            </a:r>
            <a:endParaRPr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DB0E323-86A7-0EF4-F3FD-5AFC79454968}"/>
              </a:ext>
            </a:extLst>
          </p:cNvPr>
          <p:cNvSpPr txBox="1"/>
          <p:nvPr/>
        </p:nvSpPr>
        <p:spPr>
          <a:xfrm>
            <a:off x="1874519" y="274320"/>
            <a:ext cx="6419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Oswald"/>
              </a:defRPr>
            </a:pPr>
            <a:r>
              <a:rPr sz="3200" dirty="0" err="1"/>
              <a:t>Sten</a:t>
            </a:r>
            <a:r>
              <a:rPr lang="en-US" sz="3200" dirty="0" err="1"/>
              <a:t>oqwit</a:t>
            </a:r>
            <a:r>
              <a:rPr lang="en-US" sz="3200" dirty="0"/>
              <a:t>:</a:t>
            </a:r>
            <a:r>
              <a:rPr sz="3200" dirty="0"/>
              <a:t> </a:t>
            </a:r>
            <a:r>
              <a:rPr lang="en-US" sz="3200" dirty="0" err="1"/>
              <a:t>Mouseless</a:t>
            </a:r>
            <a:r>
              <a:rPr lang="en-US" sz="3200" dirty="0"/>
              <a:t> </a:t>
            </a:r>
            <a:r>
              <a:rPr sz="3200" dirty="0"/>
              <a:t>Circuit</a:t>
            </a:r>
            <a:r>
              <a:rPr lang="en-US" sz="3200" dirty="0"/>
              <a:t> </a:t>
            </a:r>
            <a:r>
              <a:rPr sz="3200" dirty="0"/>
              <a:t>Editor</a:t>
            </a:r>
            <a:endParaRPr lang="en-US" sz="3200" dirty="0"/>
          </a:p>
          <a:p>
            <a:pPr algn="l">
              <a:defRPr sz="1200" b="0">
                <a:solidFill>
                  <a:srgbClr val="FFFFFF"/>
                </a:solidFill>
                <a:latin typeface="Oswald"/>
              </a:defRPr>
            </a:pPr>
            <a:r>
              <a:rPr lang="en-US" sz="1600" dirty="0"/>
              <a:t>Attribute to: Christian Galvez</a:t>
            </a:r>
            <a:endParaRPr sz="16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14DD886A-44ED-3294-5835-2790A415C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59" y="39019"/>
            <a:ext cx="1442445" cy="12121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</TotalTime>
  <Words>695</Words>
  <Application>Microsoft Office PowerPoint</Application>
  <PresentationFormat>Custom</PresentationFormat>
  <Paragraphs>165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Galvez, Christian-Anthony</cp:lastModifiedBy>
  <cp:revision>5</cp:revision>
  <dcterms:created xsi:type="dcterms:W3CDTF">2013-01-27T09:14:16Z</dcterms:created>
  <dcterms:modified xsi:type="dcterms:W3CDTF">2026-08-28T15:51:55Z</dcterms:modified>
  <cp:category/>
</cp:coreProperties>
</file>